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12"/>
    <p:sldId id="266" r:id="rId13"/>
    <p:sldId id="270" r:id="rId14"/>
    <p:sldId id="272" r:id="rId15"/>
    <p:sldId id="274" r:id="rId16"/>
    <p:sldId id="267" r:id="rId17"/>
  </p:sldIdLst>
  <p:sldSz cx="18288000" cy="10287000"/>
  <p:notesSz cx="6858000" cy="9144000"/>
  <p:embeddedFontLst>
    <p:embeddedFont>
      <p:font typeface="Arial MT Pro Bold" panose="020B0604020202020204" charset="0"/>
      <p:regular r:id="rId18"/>
    </p:embeddedFont>
    <p:embeddedFont>
      <p:font typeface="Cardo" panose="020B0604020202020204" charset="-79"/>
      <p:regular r:id="rId19"/>
    </p:embeddedFont>
    <p:embeddedFont>
      <p:font typeface="Times New Roman Bold" panose="02020803070505020304" pitchFamily="18" charset="0"/>
      <p:regular r:id="rId20"/>
      <p:bold r:id="rId21"/>
    </p:embeddedFont>
    <p:embeddedFont>
      <p:font typeface="Times New Roman MT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00696" y="5040932"/>
            <a:ext cx="450532" cy="3616036"/>
          </a:xfrm>
          <a:custGeom>
            <a:avLst/>
            <a:gdLst/>
            <a:ahLst/>
            <a:cxnLst/>
            <a:rect l="l" t="t" r="r" b="b"/>
            <a:pathLst>
              <a:path w="450532" h="3616036">
                <a:moveTo>
                  <a:pt x="0" y="0"/>
                </a:moveTo>
                <a:lnTo>
                  <a:pt x="450532" y="0"/>
                </a:lnTo>
                <a:lnTo>
                  <a:pt x="450532" y="3616036"/>
                </a:lnTo>
                <a:lnTo>
                  <a:pt x="0" y="3616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7775" y="9113997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00515" y="9003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1" t="-101963" r="-4539" b="-9192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92794" y="2021326"/>
            <a:ext cx="16667788" cy="2278410"/>
            <a:chOff x="0" y="0"/>
            <a:chExt cx="22223718" cy="30378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223730" cy="3037840"/>
            </a:xfrm>
            <a:custGeom>
              <a:avLst/>
              <a:gdLst/>
              <a:ahLst/>
              <a:cxnLst/>
              <a:rect l="l" t="t" r="r" b="b"/>
              <a:pathLst>
                <a:path w="22223730" h="3037840">
                  <a:moveTo>
                    <a:pt x="0" y="0"/>
                  </a:moveTo>
                  <a:lnTo>
                    <a:pt x="22223730" y="0"/>
                  </a:lnTo>
                  <a:lnTo>
                    <a:pt x="22223730" y="3037840"/>
                  </a:lnTo>
                  <a:lnTo>
                    <a:pt x="0" y="3037840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223718" cy="31236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</a:pPr>
              <a:r>
                <a:rPr lang="en-US" sz="4200" b="1" dirty="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Physics-Informed Sparse Dynamics Discovery for </a:t>
              </a:r>
              <a:r>
                <a:rPr lang="en-US" sz="4200" b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Quadrotor Using </a:t>
              </a:r>
              <a:r>
                <a:rPr lang="en-US" sz="4200" b="1" dirty="0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Compressed Sensing and </a:t>
              </a:r>
              <a:r>
                <a:rPr lang="en-US" sz="4200" b="1" dirty="0" err="1">
                  <a:solidFill>
                    <a:srgbClr val="FFFFFF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SINDy</a:t>
              </a:r>
              <a:endParaRPr lang="en-US" sz="4200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5822830" y="354384"/>
            <a:ext cx="5356458" cy="1239338"/>
          </a:xfrm>
          <a:custGeom>
            <a:avLst/>
            <a:gdLst/>
            <a:ahLst/>
            <a:cxnLst/>
            <a:rect l="l" t="t" r="r" b="b"/>
            <a:pathLst>
              <a:path w="5356458" h="1239338">
                <a:moveTo>
                  <a:pt x="0" y="0"/>
                </a:moveTo>
                <a:lnTo>
                  <a:pt x="5356458" y="0"/>
                </a:lnTo>
                <a:lnTo>
                  <a:pt x="5356458" y="1239338"/>
                </a:lnTo>
                <a:lnTo>
                  <a:pt x="0" y="1239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81678" y="5531370"/>
            <a:ext cx="8648122" cy="28434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22: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DHIVYALAKSHMI M — CH.SC.U4AIE24016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LAKSHMI KANTHAN S — CH.SC.U4AIE24041</a:t>
            </a:r>
          </a:p>
          <a:p>
            <a:pPr marL="582930" lvl="1" indent="-291465" algn="l">
              <a:lnSpc>
                <a:spcPts val="3726"/>
              </a:lnSpc>
              <a:buFont typeface="Arial"/>
              <a:buChar char="•"/>
            </a:pPr>
            <a:r>
              <a:rPr lang="en-US" sz="2700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AKSHAYA SUNDAR — CH.EN.U4RAI24002</a:t>
            </a:r>
          </a:p>
          <a:p>
            <a:pPr algn="l">
              <a:lnSpc>
                <a:spcPts val="3726"/>
              </a:lnSpc>
            </a:pPr>
            <a:r>
              <a:rPr lang="en-US" sz="2700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</a:p>
          <a:p>
            <a:pPr algn="l">
              <a:lnSpc>
                <a:spcPts val="3726"/>
              </a:lnSpc>
            </a:pPr>
            <a:endParaRPr lang="en-US" sz="2700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34034" y="5387264"/>
            <a:ext cx="450532" cy="3616036"/>
          </a:xfrm>
          <a:custGeom>
            <a:avLst/>
            <a:gdLst/>
            <a:ahLst/>
            <a:cxnLst/>
            <a:rect l="l" t="t" r="r" b="b"/>
            <a:pathLst>
              <a:path w="450532" h="3616036">
                <a:moveTo>
                  <a:pt x="0" y="0"/>
                </a:moveTo>
                <a:lnTo>
                  <a:pt x="450532" y="0"/>
                </a:lnTo>
                <a:lnTo>
                  <a:pt x="450532" y="3616036"/>
                </a:lnTo>
                <a:lnTo>
                  <a:pt x="0" y="3616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7775" y="9113997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00515" y="9003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81" t="-101963" r="-4539" b="-9192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00" cy="1380383"/>
            <a:chOff x="0" y="0"/>
            <a:chExt cx="4816593" cy="3635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363558"/>
            </a:xfrm>
            <a:custGeom>
              <a:avLst/>
              <a:gdLst/>
              <a:ahLst/>
              <a:cxnLst/>
              <a:rect l="l" t="t" r="r" b="b"/>
              <a:pathLst>
                <a:path w="4816592" h="363558">
                  <a:moveTo>
                    <a:pt x="0" y="0"/>
                  </a:moveTo>
                  <a:lnTo>
                    <a:pt x="4816592" y="0"/>
                  </a:lnTo>
                  <a:lnTo>
                    <a:pt x="4816592" y="363558"/>
                  </a:lnTo>
                  <a:lnTo>
                    <a:pt x="0" y="363558"/>
                  </a:lnTo>
                  <a:close/>
                </a:path>
              </a:pathLst>
            </a:custGeom>
            <a:solidFill>
              <a:srgbClr val="AE1D49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66675"/>
              <a:ext cx="4816593" cy="29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936361" y="1566289"/>
            <a:ext cx="14108680" cy="6983797"/>
          </a:xfrm>
          <a:custGeom>
            <a:avLst/>
            <a:gdLst/>
            <a:ahLst/>
            <a:cxnLst/>
            <a:rect l="l" t="t" r="r" b="b"/>
            <a:pathLst>
              <a:path w="14108680" h="6983797">
                <a:moveTo>
                  <a:pt x="0" y="0"/>
                </a:moveTo>
                <a:lnTo>
                  <a:pt x="14108680" y="0"/>
                </a:lnTo>
                <a:lnTo>
                  <a:pt x="14108680" y="6983796"/>
                </a:lnTo>
                <a:lnTo>
                  <a:pt x="0" y="69837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506347"/>
            <a:ext cx="16280892" cy="572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3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Methodological Comparison of Existing Sparse and Adaptive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816549-5FB8-22A2-9D61-9444DAF81DBB}"/>
              </a:ext>
            </a:extLst>
          </p:cNvPr>
          <p:cNvSpPr/>
          <p:nvPr/>
        </p:nvSpPr>
        <p:spPr>
          <a:xfrm>
            <a:off x="7391400" y="1566289"/>
            <a:ext cx="3581400" cy="605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490566"/>
            <a:chOff x="0" y="0"/>
            <a:chExt cx="4816593" cy="3925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92577"/>
            </a:xfrm>
            <a:custGeom>
              <a:avLst/>
              <a:gdLst/>
              <a:ahLst/>
              <a:cxnLst/>
              <a:rect l="l" t="t" r="r" b="b"/>
              <a:pathLst>
                <a:path w="4816592" h="392577">
                  <a:moveTo>
                    <a:pt x="0" y="0"/>
                  </a:moveTo>
                  <a:lnTo>
                    <a:pt x="4816592" y="0"/>
                  </a:lnTo>
                  <a:lnTo>
                    <a:pt x="4816592" y="392577"/>
                  </a:lnTo>
                  <a:lnTo>
                    <a:pt x="0" y="392577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4816593" cy="3259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155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0190" y="9525020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3"/>
                </a:lnTo>
                <a:lnTo>
                  <a:pt x="0" y="450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57080" y="1700430"/>
            <a:ext cx="14628493" cy="6911963"/>
          </a:xfrm>
          <a:custGeom>
            <a:avLst/>
            <a:gdLst/>
            <a:ahLst/>
            <a:cxnLst/>
            <a:rect l="l" t="t" r="r" b="b"/>
            <a:pathLst>
              <a:path w="14628493" h="6911963">
                <a:moveTo>
                  <a:pt x="0" y="0"/>
                </a:moveTo>
                <a:lnTo>
                  <a:pt x="14628493" y="0"/>
                </a:lnTo>
                <a:lnTo>
                  <a:pt x="14628493" y="6911963"/>
                </a:lnTo>
                <a:lnTo>
                  <a:pt x="0" y="6911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230190" y="9525020"/>
            <a:ext cx="3977640" cy="450533"/>
          </a:xfrm>
          <a:custGeom>
            <a:avLst/>
            <a:gdLst/>
            <a:ahLst/>
            <a:cxnLst/>
            <a:rect l="l" t="t" r="r" b="b"/>
            <a:pathLst>
              <a:path w="3977640" h="450533">
                <a:moveTo>
                  <a:pt x="0" y="0"/>
                </a:moveTo>
                <a:lnTo>
                  <a:pt x="3977640" y="0"/>
                </a:lnTo>
                <a:lnTo>
                  <a:pt x="3977640" y="450533"/>
                </a:lnTo>
                <a:lnTo>
                  <a:pt x="0" y="450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DBF7D2-A504-9D18-9C35-66AC7B99953D}"/>
              </a:ext>
            </a:extLst>
          </p:cNvPr>
          <p:cNvSpPr/>
          <p:nvPr/>
        </p:nvSpPr>
        <p:spPr>
          <a:xfrm>
            <a:off x="7772400" y="1631878"/>
            <a:ext cx="3581400" cy="605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308016"/>
            <a:chOff x="0" y="0"/>
            <a:chExt cx="4816593" cy="344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44498"/>
            </a:xfrm>
            <a:custGeom>
              <a:avLst/>
              <a:gdLst/>
              <a:ahLst/>
              <a:cxnLst/>
              <a:rect l="l" t="t" r="r" b="b"/>
              <a:pathLst>
                <a:path w="4816592" h="344498">
                  <a:moveTo>
                    <a:pt x="0" y="0"/>
                  </a:moveTo>
                  <a:lnTo>
                    <a:pt x="4816592" y="0"/>
                  </a:lnTo>
                  <a:lnTo>
                    <a:pt x="4816592" y="344498"/>
                  </a:lnTo>
                  <a:lnTo>
                    <a:pt x="0" y="344498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4816593" cy="277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r>
                <a:rPr lang="en-US" sz="4999">
                  <a:solidFill>
                    <a:srgbClr val="FFFFFF"/>
                  </a:solidFill>
                  <a:latin typeface="Cardo"/>
                  <a:ea typeface="Cardo"/>
                  <a:cs typeface="Cardo"/>
                  <a:sym typeface="Cardo"/>
                </a:rPr>
                <a:t>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0190" y="9525020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3"/>
                </a:lnTo>
                <a:lnTo>
                  <a:pt x="0" y="450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93719" y="1772119"/>
            <a:ext cx="14591853" cy="6785212"/>
          </a:xfrm>
          <a:custGeom>
            <a:avLst/>
            <a:gdLst/>
            <a:ahLst/>
            <a:cxnLst/>
            <a:rect l="l" t="t" r="r" b="b"/>
            <a:pathLst>
              <a:path w="14591853" h="6785212">
                <a:moveTo>
                  <a:pt x="0" y="0"/>
                </a:moveTo>
                <a:lnTo>
                  <a:pt x="14591854" y="0"/>
                </a:lnTo>
                <a:lnTo>
                  <a:pt x="14591854" y="6785212"/>
                </a:lnTo>
                <a:lnTo>
                  <a:pt x="0" y="67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ED3E22-E59B-911B-D305-445B8B9A57F8}"/>
              </a:ext>
            </a:extLst>
          </p:cNvPr>
          <p:cNvSpPr/>
          <p:nvPr/>
        </p:nvSpPr>
        <p:spPr>
          <a:xfrm>
            <a:off x="2209800" y="2275705"/>
            <a:ext cx="3581400" cy="605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762" y="0"/>
            <a:ext cx="18288000" cy="1308016"/>
            <a:chOff x="0" y="0"/>
            <a:chExt cx="4816593" cy="3444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44498"/>
            </a:xfrm>
            <a:custGeom>
              <a:avLst/>
              <a:gdLst/>
              <a:ahLst/>
              <a:cxnLst/>
              <a:rect l="l" t="t" r="r" b="b"/>
              <a:pathLst>
                <a:path w="4816592" h="344498">
                  <a:moveTo>
                    <a:pt x="0" y="0"/>
                  </a:moveTo>
                  <a:lnTo>
                    <a:pt x="4816592" y="0"/>
                  </a:lnTo>
                  <a:lnTo>
                    <a:pt x="4816592" y="344498"/>
                  </a:lnTo>
                  <a:lnTo>
                    <a:pt x="0" y="344498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66675"/>
              <a:ext cx="4816593" cy="277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0190" y="9525020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3"/>
                </a:lnTo>
                <a:lnTo>
                  <a:pt x="0" y="450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33400" y="1742730"/>
            <a:ext cx="16515115" cy="7080855"/>
          </a:xfrm>
          <a:custGeom>
            <a:avLst/>
            <a:gdLst/>
            <a:ahLst/>
            <a:cxnLst/>
            <a:rect l="l" t="t" r="r" b="b"/>
            <a:pathLst>
              <a:path w="16515115" h="7080855">
                <a:moveTo>
                  <a:pt x="0" y="0"/>
                </a:moveTo>
                <a:lnTo>
                  <a:pt x="16515115" y="0"/>
                </a:lnTo>
                <a:lnTo>
                  <a:pt x="16515115" y="7080856"/>
                </a:lnTo>
                <a:lnTo>
                  <a:pt x="0" y="7080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A3F30A-78CC-4667-D2CC-DDF56E11BD73}"/>
              </a:ext>
            </a:extLst>
          </p:cNvPr>
          <p:cNvSpPr/>
          <p:nvPr/>
        </p:nvSpPr>
        <p:spPr>
          <a:xfrm>
            <a:off x="10896600" y="1742730"/>
            <a:ext cx="4495800" cy="605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762" y="0"/>
            <a:ext cx="18288000" cy="1161753"/>
            <a:chOff x="0" y="0"/>
            <a:chExt cx="4816593" cy="30597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305976"/>
            </a:xfrm>
            <a:custGeom>
              <a:avLst/>
              <a:gdLst/>
              <a:ahLst/>
              <a:cxnLst/>
              <a:rect l="l" t="t" r="r" b="b"/>
              <a:pathLst>
                <a:path w="4816592" h="305976">
                  <a:moveTo>
                    <a:pt x="0" y="0"/>
                  </a:moveTo>
                  <a:lnTo>
                    <a:pt x="4816592" y="0"/>
                  </a:lnTo>
                  <a:lnTo>
                    <a:pt x="4816592" y="305976"/>
                  </a:lnTo>
                  <a:lnTo>
                    <a:pt x="0" y="305976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4816593" cy="239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1257300"/>
            <a:ext cx="10906360" cy="5334544"/>
          </a:xfrm>
          <a:custGeom>
            <a:avLst/>
            <a:gdLst/>
            <a:ahLst/>
            <a:cxnLst/>
            <a:rect l="l" t="t" r="r" b="b"/>
            <a:pathLst>
              <a:path w="10906360" h="5334544">
                <a:moveTo>
                  <a:pt x="0" y="0"/>
                </a:moveTo>
                <a:lnTo>
                  <a:pt x="10906360" y="0"/>
                </a:lnTo>
                <a:lnTo>
                  <a:pt x="10906360" y="5334545"/>
                </a:lnTo>
                <a:lnTo>
                  <a:pt x="0" y="5334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37" b="-337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762" y="6607603"/>
            <a:ext cx="10491949" cy="3679397"/>
          </a:xfrm>
          <a:custGeom>
            <a:avLst/>
            <a:gdLst/>
            <a:ahLst/>
            <a:cxnLst/>
            <a:rect l="l" t="t" r="r" b="b"/>
            <a:pathLst>
              <a:path w="10491949" h="3679397">
                <a:moveTo>
                  <a:pt x="0" y="0"/>
                </a:moveTo>
                <a:lnTo>
                  <a:pt x="10491949" y="0"/>
                </a:lnTo>
                <a:lnTo>
                  <a:pt x="10491949" y="3679397"/>
                </a:lnTo>
                <a:lnTo>
                  <a:pt x="0" y="3679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49" t="-3025" b="-13426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4499496" y="355100"/>
            <a:ext cx="7777628" cy="72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D60B6F-0087-21B2-68CA-EBB7EB3A42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95600" y="8118642"/>
            <a:ext cx="11622122" cy="6573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8330364" cy="1051469"/>
            <a:chOff x="0" y="0"/>
            <a:chExt cx="4827750" cy="2769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27750" cy="276930"/>
            </a:xfrm>
            <a:custGeom>
              <a:avLst/>
              <a:gdLst/>
              <a:ahLst/>
              <a:cxnLst/>
              <a:rect l="l" t="t" r="r" b="b"/>
              <a:pathLst>
                <a:path w="4827750" h="276930">
                  <a:moveTo>
                    <a:pt x="0" y="0"/>
                  </a:moveTo>
                  <a:lnTo>
                    <a:pt x="4827750" y="0"/>
                  </a:lnTo>
                  <a:lnTo>
                    <a:pt x="4827750" y="276930"/>
                  </a:lnTo>
                  <a:lnTo>
                    <a:pt x="0" y="276930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4827750" cy="21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6667500"/>
            <a:ext cx="10229850" cy="3619500"/>
          </a:xfrm>
          <a:custGeom>
            <a:avLst/>
            <a:gdLst/>
            <a:ahLst/>
            <a:cxnLst/>
            <a:rect l="l" t="t" r="r" b="b"/>
            <a:pathLst>
              <a:path w="10948724" h="4358674">
                <a:moveTo>
                  <a:pt x="0" y="0"/>
                </a:moveTo>
                <a:lnTo>
                  <a:pt x="10948724" y="0"/>
                </a:lnTo>
                <a:lnTo>
                  <a:pt x="10948724" y="4358674"/>
                </a:lnTo>
                <a:lnTo>
                  <a:pt x="0" y="4358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874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4694513" y="110742"/>
            <a:ext cx="7777628" cy="72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BC212E9-3DA4-ED7D-E874-1CE6BC192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10" y="5386298"/>
            <a:ext cx="87534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Robotic dynamics are inherently nonlinear due to rotational motion, trigonometric relationships, and joint coupling effects, so linear models alone are insufficient.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nonlinear library enriches the feature space by adding functions like sine, cosine, and quadratic interaction terms.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BE593F1-7C98-86F1-16FC-F97194ED39D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276798" y="5377353"/>
            <a:ext cx="80552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transformation allows complex nonlinear behavior to be represented as a linear combination of nonlinear basis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result, compressed sensing can efficiently select the most relevant terms and identify a sparse governing equation.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03310C-9C1E-21F4-B897-F521890BB72D}"/>
              </a:ext>
            </a:extLst>
          </p:cNvPr>
          <p:cNvSpPr/>
          <p:nvPr/>
        </p:nvSpPr>
        <p:spPr>
          <a:xfrm>
            <a:off x="5257800" y="4152900"/>
            <a:ext cx="4800600" cy="576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6B5628-01A8-63D0-AD56-F13EB8DF3B0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8751"/>
          <a:stretch>
            <a:fillRect/>
          </a:stretch>
        </p:blipFill>
        <p:spPr>
          <a:xfrm>
            <a:off x="82074" y="1009326"/>
            <a:ext cx="6677957" cy="37198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EDAB64-4D51-2C9B-7AD5-EE36815F77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147"/>
          <a:stretch>
            <a:fillRect/>
          </a:stretch>
        </p:blipFill>
        <p:spPr>
          <a:xfrm>
            <a:off x="6421040" y="1303558"/>
            <a:ext cx="6677957" cy="348141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201D98-5297-F881-088C-B78E42205E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527"/>
          <a:stretch>
            <a:fillRect/>
          </a:stretch>
        </p:blipFill>
        <p:spPr>
          <a:xfrm>
            <a:off x="12707305" y="2364081"/>
            <a:ext cx="4624756" cy="12670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30253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6" y="0"/>
                </a:lnTo>
                <a:lnTo>
                  <a:pt x="3180376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763" y="0"/>
            <a:ext cx="18288000" cy="1231681"/>
            <a:chOff x="0" y="0"/>
            <a:chExt cx="4816593" cy="3243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324393"/>
            </a:xfrm>
            <a:custGeom>
              <a:avLst/>
              <a:gdLst/>
              <a:ahLst/>
              <a:cxnLst/>
              <a:rect l="l" t="t" r="r" b="b"/>
              <a:pathLst>
                <a:path w="4816592" h="324393">
                  <a:moveTo>
                    <a:pt x="0" y="0"/>
                  </a:moveTo>
                  <a:lnTo>
                    <a:pt x="4816592" y="0"/>
                  </a:lnTo>
                  <a:lnTo>
                    <a:pt x="4816592" y="324393"/>
                  </a:lnTo>
                  <a:lnTo>
                    <a:pt x="0" y="324393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4816593" cy="257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94446" y="1231681"/>
            <a:ext cx="10948724" cy="493137"/>
          </a:xfrm>
          <a:custGeom>
            <a:avLst/>
            <a:gdLst/>
            <a:ahLst/>
            <a:cxnLst/>
            <a:rect l="l" t="t" r="r" b="b"/>
            <a:pathLst>
              <a:path w="10948724" h="493137">
                <a:moveTo>
                  <a:pt x="0" y="0"/>
                </a:moveTo>
                <a:lnTo>
                  <a:pt x="10948724" y="0"/>
                </a:lnTo>
                <a:lnTo>
                  <a:pt x="10948724" y="493137"/>
                </a:lnTo>
                <a:lnTo>
                  <a:pt x="0" y="493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6113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1724818"/>
            <a:ext cx="11087684" cy="5694900"/>
          </a:xfrm>
          <a:custGeom>
            <a:avLst/>
            <a:gdLst/>
            <a:ahLst/>
            <a:cxnLst/>
            <a:rect l="l" t="t" r="r" b="b"/>
            <a:pathLst>
              <a:path w="11087684" h="5694900">
                <a:moveTo>
                  <a:pt x="0" y="0"/>
                </a:moveTo>
                <a:lnTo>
                  <a:pt x="11087684" y="0"/>
                </a:lnTo>
                <a:lnTo>
                  <a:pt x="11087684" y="5694900"/>
                </a:lnTo>
                <a:lnTo>
                  <a:pt x="0" y="5694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4763" y="7682221"/>
            <a:ext cx="10759831" cy="2560052"/>
          </a:xfrm>
          <a:custGeom>
            <a:avLst/>
            <a:gdLst/>
            <a:ahLst/>
            <a:cxnLst/>
            <a:rect l="l" t="t" r="r" b="b"/>
            <a:pathLst>
              <a:path w="10759831" h="2560052">
                <a:moveTo>
                  <a:pt x="0" y="0"/>
                </a:moveTo>
                <a:lnTo>
                  <a:pt x="10759832" y="0"/>
                </a:lnTo>
                <a:lnTo>
                  <a:pt x="10759832" y="2560052"/>
                </a:lnTo>
                <a:lnTo>
                  <a:pt x="0" y="2560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5006" b="-13494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4694513" y="110742"/>
            <a:ext cx="7777628" cy="72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52400" y="-71620"/>
            <a:ext cx="18288000" cy="1088622"/>
            <a:chOff x="0" y="0"/>
            <a:chExt cx="4816593" cy="2867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86715"/>
            </a:xfrm>
            <a:custGeom>
              <a:avLst/>
              <a:gdLst/>
              <a:ahLst/>
              <a:cxnLst/>
              <a:rect l="l" t="t" r="r" b="b"/>
              <a:pathLst>
                <a:path w="4816592" h="286715">
                  <a:moveTo>
                    <a:pt x="0" y="0"/>
                  </a:moveTo>
                  <a:lnTo>
                    <a:pt x="4816592" y="0"/>
                  </a:lnTo>
                  <a:lnTo>
                    <a:pt x="4816592" y="286715"/>
                  </a:lnTo>
                  <a:lnTo>
                    <a:pt x="0" y="286715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4816593" cy="2200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1375495"/>
            <a:ext cx="10759831" cy="2403384"/>
          </a:xfrm>
          <a:custGeom>
            <a:avLst/>
            <a:gdLst/>
            <a:ahLst/>
            <a:cxnLst/>
            <a:rect l="l" t="t" r="r" b="b"/>
            <a:pathLst>
              <a:path w="10759831" h="2656541">
                <a:moveTo>
                  <a:pt x="0" y="0"/>
                </a:moveTo>
                <a:lnTo>
                  <a:pt x="10759831" y="0"/>
                </a:lnTo>
                <a:lnTo>
                  <a:pt x="10759831" y="2656541"/>
                </a:lnTo>
                <a:lnTo>
                  <a:pt x="0" y="2656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6411" b="-1446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3875741"/>
            <a:ext cx="9647259" cy="6411259"/>
          </a:xfrm>
          <a:custGeom>
            <a:avLst/>
            <a:gdLst/>
            <a:ahLst/>
            <a:cxnLst/>
            <a:rect l="l" t="t" r="r" b="b"/>
            <a:pathLst>
              <a:path w="9647259" h="6411259">
                <a:moveTo>
                  <a:pt x="0" y="0"/>
                </a:moveTo>
                <a:lnTo>
                  <a:pt x="9647259" y="0"/>
                </a:lnTo>
                <a:lnTo>
                  <a:pt x="9647259" y="6411259"/>
                </a:lnTo>
                <a:lnTo>
                  <a:pt x="0" y="6411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15" t="-188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4694513" y="110742"/>
            <a:ext cx="7777628" cy="72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763" y="0"/>
            <a:ext cx="18288000" cy="1140592"/>
            <a:chOff x="0" y="0"/>
            <a:chExt cx="4816593" cy="3004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300403"/>
            </a:xfrm>
            <a:custGeom>
              <a:avLst/>
              <a:gdLst/>
              <a:ahLst/>
              <a:cxnLst/>
              <a:rect l="l" t="t" r="r" b="b"/>
              <a:pathLst>
                <a:path w="4816592" h="300403">
                  <a:moveTo>
                    <a:pt x="0" y="0"/>
                  </a:moveTo>
                  <a:lnTo>
                    <a:pt x="4816592" y="0"/>
                  </a:lnTo>
                  <a:lnTo>
                    <a:pt x="4816592" y="300403"/>
                  </a:lnTo>
                  <a:lnTo>
                    <a:pt x="0" y="300403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4816593" cy="233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" y="1140592"/>
            <a:ext cx="10134600" cy="4764908"/>
          </a:xfrm>
          <a:custGeom>
            <a:avLst/>
            <a:gdLst/>
            <a:ahLst/>
            <a:cxnLst/>
            <a:rect l="l" t="t" r="r" b="b"/>
            <a:pathLst>
              <a:path w="10728955" h="5328126">
                <a:moveTo>
                  <a:pt x="0" y="0"/>
                </a:moveTo>
                <a:lnTo>
                  <a:pt x="10728955" y="0"/>
                </a:lnTo>
                <a:lnTo>
                  <a:pt x="10728955" y="5328127"/>
                </a:lnTo>
                <a:lnTo>
                  <a:pt x="0" y="5328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94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4694513" y="110742"/>
            <a:ext cx="7777628" cy="723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00" y="5925084"/>
            <a:ext cx="5231966" cy="394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Real Data:  R²=0.825 | MSE=12.156 | MAE=1.61</a:t>
            </a:r>
          </a:p>
          <a:p>
            <a:pPr algn="l">
              <a:lnSpc>
                <a:spcPts val="388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•Synthetic:  R²=0.925 | MSE=0.353 | MAE=0.408</a:t>
            </a:r>
          </a:p>
          <a:p>
            <a:pPr algn="l">
              <a:lnSpc>
                <a:spcPts val="388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•Real: 31/186 active terms | 83.3% sparse | 4.07ms</a:t>
            </a:r>
          </a:p>
          <a:p>
            <a:pPr algn="l">
              <a:lnSpc>
                <a:spcPts val="3889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•Synthetic: 22/186 active terms | 88.2% sparse | 2.98ms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D785F221-1EAD-E802-009B-0E5CBF916654}"/>
              </a:ext>
            </a:extLst>
          </p:cNvPr>
          <p:cNvGrpSpPr/>
          <p:nvPr/>
        </p:nvGrpSpPr>
        <p:grpSpPr>
          <a:xfrm>
            <a:off x="-914400" y="-26633"/>
            <a:ext cx="20335676" cy="1893066"/>
            <a:chOff x="0" y="0"/>
            <a:chExt cx="5355898" cy="498585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8DBDDAC-CCFE-2411-8CA9-E2BE00F1C9AD}"/>
                </a:ext>
              </a:extLst>
            </p:cNvPr>
            <p:cNvSpPr/>
            <p:nvPr/>
          </p:nvSpPr>
          <p:spPr>
            <a:xfrm>
              <a:off x="0" y="0"/>
              <a:ext cx="5355898" cy="498585"/>
            </a:xfrm>
            <a:custGeom>
              <a:avLst/>
              <a:gdLst/>
              <a:ahLst/>
              <a:cxnLst/>
              <a:rect l="l" t="t" r="r" b="b"/>
              <a:pathLst>
                <a:path w="5355898" h="498585">
                  <a:moveTo>
                    <a:pt x="0" y="0"/>
                  </a:moveTo>
                  <a:lnTo>
                    <a:pt x="5355898" y="0"/>
                  </a:lnTo>
                  <a:lnTo>
                    <a:pt x="5355898" y="498585"/>
                  </a:lnTo>
                  <a:lnTo>
                    <a:pt x="0" y="498585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3B3A600E-F873-B808-5BA7-4C329DE860F8}"/>
                </a:ext>
              </a:extLst>
            </p:cNvPr>
            <p:cNvSpPr txBox="1"/>
            <p:nvPr/>
          </p:nvSpPr>
          <p:spPr>
            <a:xfrm>
              <a:off x="0" y="66675"/>
              <a:ext cx="5355898" cy="431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4845997-6DD8-9AF0-4663-DA272359F50F}"/>
              </a:ext>
            </a:extLst>
          </p:cNvPr>
          <p:cNvSpPr txBox="1"/>
          <p:nvPr/>
        </p:nvSpPr>
        <p:spPr>
          <a:xfrm>
            <a:off x="6629400" y="365902"/>
            <a:ext cx="5334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Methodology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37263B71-2F30-DCBA-0EEE-D7162D73E5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C13BBB-AE4C-58BD-8809-BC28BF878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1866433"/>
            <a:ext cx="10629900" cy="59793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C6709D1-D3C5-322E-76F0-A7F8F790778C}"/>
              </a:ext>
            </a:extLst>
          </p:cNvPr>
          <p:cNvSpPr/>
          <p:nvPr/>
        </p:nvSpPr>
        <p:spPr>
          <a:xfrm>
            <a:off x="3733800" y="2269650"/>
            <a:ext cx="69723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15CA32-FAC4-1BFC-D71E-C6A46E93B1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50215"/>
              </p:ext>
            </p:extLst>
          </p:nvPr>
        </p:nvGraphicFramePr>
        <p:xfrm>
          <a:off x="752030" y="8398350"/>
          <a:ext cx="11565662" cy="1867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378">
                  <a:extLst>
                    <a:ext uri="{9D8B030D-6E8A-4147-A177-3AD203B41FA5}">
                      <a16:colId xmlns:a16="http://schemas.microsoft.com/office/drawing/2014/main" val="107393459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18775432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57476847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845786896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48388033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350042155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530589826"/>
                    </a:ext>
                  </a:extLst>
                </a:gridCol>
              </a:tblGrid>
              <a:tr h="878526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Sparsity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723350"/>
                  </a:ext>
                </a:extLst>
              </a:tr>
              <a:tr h="494558">
                <a:tc>
                  <a:txBody>
                    <a:bodyPr/>
                    <a:lstStyle/>
                    <a:p>
                      <a:r>
                        <a:rPr lang="en-US" dirty="0"/>
                        <a:t>Real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12.156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4.07 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31/186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83.3%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290043"/>
                  </a:ext>
                </a:extLst>
              </a:tr>
              <a:tr h="494558">
                <a:tc>
                  <a:txBody>
                    <a:bodyPr/>
                    <a:lstStyle/>
                    <a:p>
                      <a:r>
                        <a:rPr lang="en-US" dirty="0"/>
                        <a:t>Synthetic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2.98 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22/186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88.2%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79899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B71C328-4682-C815-1C84-BDB73FE24D08}"/>
              </a:ext>
            </a:extLst>
          </p:cNvPr>
          <p:cNvSpPr txBox="1"/>
          <p:nvPr/>
        </p:nvSpPr>
        <p:spPr>
          <a:xfrm>
            <a:off x="218630" y="7712550"/>
            <a:ext cx="944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Real vs Synthetic: Comparison of Key Metrics</a:t>
            </a:r>
          </a:p>
        </p:txBody>
      </p:sp>
    </p:spTree>
    <p:extLst>
      <p:ext uri="{BB962C8B-B14F-4D97-AF65-F5344CB8AC3E}">
        <p14:creationId xmlns:p14="http://schemas.microsoft.com/office/powerpoint/2010/main" val="2512663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019075" y="-864366"/>
            <a:ext cx="20335676" cy="1893066"/>
            <a:chOff x="0" y="0"/>
            <a:chExt cx="5355898" cy="4985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55898" cy="498585"/>
            </a:xfrm>
            <a:custGeom>
              <a:avLst/>
              <a:gdLst/>
              <a:ahLst/>
              <a:cxnLst/>
              <a:rect l="l" t="t" r="r" b="b"/>
              <a:pathLst>
                <a:path w="5355898" h="498585">
                  <a:moveTo>
                    <a:pt x="0" y="0"/>
                  </a:moveTo>
                  <a:lnTo>
                    <a:pt x="5355898" y="0"/>
                  </a:lnTo>
                  <a:lnTo>
                    <a:pt x="5355898" y="498585"/>
                  </a:lnTo>
                  <a:lnTo>
                    <a:pt x="0" y="498585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5355898" cy="431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45127" y="1028700"/>
            <a:ext cx="17026759" cy="9258300"/>
          </a:xfrm>
          <a:custGeom>
            <a:avLst/>
            <a:gdLst/>
            <a:ahLst/>
            <a:cxnLst/>
            <a:rect l="l" t="t" r="r" b="b"/>
            <a:pathLst>
              <a:path w="17026759" h="9258300">
                <a:moveTo>
                  <a:pt x="0" y="0"/>
                </a:moveTo>
                <a:lnTo>
                  <a:pt x="17026758" y="0"/>
                </a:lnTo>
                <a:lnTo>
                  <a:pt x="1702675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019075" y="-864366"/>
            <a:ext cx="20335676" cy="1893066"/>
            <a:chOff x="0" y="0"/>
            <a:chExt cx="5355898" cy="4985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55898" cy="498585"/>
            </a:xfrm>
            <a:custGeom>
              <a:avLst/>
              <a:gdLst/>
              <a:ahLst/>
              <a:cxnLst/>
              <a:rect l="l" t="t" r="r" b="b"/>
              <a:pathLst>
                <a:path w="5355898" h="498585">
                  <a:moveTo>
                    <a:pt x="0" y="0"/>
                  </a:moveTo>
                  <a:lnTo>
                    <a:pt x="5355898" y="0"/>
                  </a:lnTo>
                  <a:lnTo>
                    <a:pt x="5355898" y="498585"/>
                  </a:lnTo>
                  <a:lnTo>
                    <a:pt x="0" y="498585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5355898" cy="431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45127" y="1028700"/>
            <a:ext cx="17026759" cy="9258300"/>
          </a:xfrm>
          <a:custGeom>
            <a:avLst/>
            <a:gdLst/>
            <a:ahLst/>
            <a:cxnLst/>
            <a:rect l="l" t="t" r="r" b="b"/>
            <a:pathLst>
              <a:path w="17026759" h="9258300">
                <a:moveTo>
                  <a:pt x="0" y="0"/>
                </a:moveTo>
                <a:lnTo>
                  <a:pt x="17026758" y="0"/>
                </a:lnTo>
                <a:lnTo>
                  <a:pt x="1702675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196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019075" y="-864366"/>
            <a:ext cx="20335676" cy="1893066"/>
            <a:chOff x="0" y="0"/>
            <a:chExt cx="5355898" cy="4985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355898" cy="498585"/>
            </a:xfrm>
            <a:custGeom>
              <a:avLst/>
              <a:gdLst/>
              <a:ahLst/>
              <a:cxnLst/>
              <a:rect l="l" t="t" r="r" b="b"/>
              <a:pathLst>
                <a:path w="5355898" h="498585">
                  <a:moveTo>
                    <a:pt x="0" y="0"/>
                  </a:moveTo>
                  <a:lnTo>
                    <a:pt x="5355898" y="0"/>
                  </a:lnTo>
                  <a:lnTo>
                    <a:pt x="5355898" y="498585"/>
                  </a:lnTo>
                  <a:lnTo>
                    <a:pt x="0" y="498585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66675"/>
              <a:ext cx="5355898" cy="431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45127" y="1028700"/>
            <a:ext cx="17026759" cy="9258300"/>
          </a:xfrm>
          <a:custGeom>
            <a:avLst/>
            <a:gdLst/>
            <a:ahLst/>
            <a:cxnLst/>
            <a:rect l="l" t="t" r="r" b="b"/>
            <a:pathLst>
              <a:path w="17026759" h="9258300">
                <a:moveTo>
                  <a:pt x="0" y="0"/>
                </a:moveTo>
                <a:lnTo>
                  <a:pt x="17026758" y="0"/>
                </a:lnTo>
                <a:lnTo>
                  <a:pt x="1702675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D0B65-5037-5A3E-5744-1A9C577AC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72D97C-60BF-F88F-9508-0327C0C2F220}"/>
              </a:ext>
            </a:extLst>
          </p:cNvPr>
          <p:cNvSpPr/>
          <p:nvPr/>
        </p:nvSpPr>
        <p:spPr>
          <a:xfrm>
            <a:off x="14401800" y="9258300"/>
            <a:ext cx="3180377" cy="983973"/>
          </a:xfrm>
          <a:custGeom>
            <a:avLst/>
            <a:gdLst/>
            <a:ahLst/>
            <a:cxnLst/>
            <a:rect l="l" t="t" r="r" b="b"/>
            <a:pathLst>
              <a:path w="3180377" h="983973">
                <a:moveTo>
                  <a:pt x="0" y="0"/>
                </a:moveTo>
                <a:lnTo>
                  <a:pt x="3180377" y="0"/>
                </a:lnTo>
                <a:lnTo>
                  <a:pt x="3180377" y="983973"/>
                </a:lnTo>
                <a:lnTo>
                  <a:pt x="0" y="983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81" t="-101963" r="-4539" b="-9192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F336D2D-FC60-AC16-997B-F3475C8FD8E6}"/>
              </a:ext>
            </a:extLst>
          </p:cNvPr>
          <p:cNvSpPr/>
          <p:nvPr/>
        </p:nvSpPr>
        <p:spPr>
          <a:xfrm rot="5400000">
            <a:off x="15696543" y="6907054"/>
            <a:ext cx="3977640" cy="450532"/>
          </a:xfrm>
          <a:custGeom>
            <a:avLst/>
            <a:gdLst/>
            <a:ahLst/>
            <a:cxnLst/>
            <a:rect l="l" t="t" r="r" b="b"/>
            <a:pathLst>
              <a:path w="3977640" h="450532">
                <a:moveTo>
                  <a:pt x="0" y="0"/>
                </a:moveTo>
                <a:lnTo>
                  <a:pt x="3977640" y="0"/>
                </a:lnTo>
                <a:lnTo>
                  <a:pt x="3977640" y="450532"/>
                </a:lnTo>
                <a:lnTo>
                  <a:pt x="0" y="4505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43DFBC8-FFD3-F473-D336-BD550BDCCA3A}"/>
              </a:ext>
            </a:extLst>
          </p:cNvPr>
          <p:cNvGrpSpPr/>
          <p:nvPr/>
        </p:nvGrpSpPr>
        <p:grpSpPr>
          <a:xfrm>
            <a:off x="-1019075" y="-864366"/>
            <a:ext cx="20335676" cy="1893066"/>
            <a:chOff x="0" y="0"/>
            <a:chExt cx="5355898" cy="498585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86355DD-B4F0-E856-5355-B87A729B2ED9}"/>
                </a:ext>
              </a:extLst>
            </p:cNvPr>
            <p:cNvSpPr/>
            <p:nvPr/>
          </p:nvSpPr>
          <p:spPr>
            <a:xfrm>
              <a:off x="0" y="0"/>
              <a:ext cx="5355898" cy="498585"/>
            </a:xfrm>
            <a:custGeom>
              <a:avLst/>
              <a:gdLst/>
              <a:ahLst/>
              <a:cxnLst/>
              <a:rect l="l" t="t" r="r" b="b"/>
              <a:pathLst>
                <a:path w="5355898" h="498585">
                  <a:moveTo>
                    <a:pt x="0" y="0"/>
                  </a:moveTo>
                  <a:lnTo>
                    <a:pt x="5355898" y="0"/>
                  </a:lnTo>
                  <a:lnTo>
                    <a:pt x="5355898" y="498585"/>
                  </a:lnTo>
                  <a:lnTo>
                    <a:pt x="0" y="498585"/>
                  </a:lnTo>
                  <a:close/>
                </a:path>
              </a:pathLst>
            </a:custGeom>
            <a:solidFill>
              <a:srgbClr val="AF1D4A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258F187-1F16-70A0-9A84-A6F9CF4AF7CB}"/>
                </a:ext>
              </a:extLst>
            </p:cNvPr>
            <p:cNvSpPr txBox="1"/>
            <p:nvPr/>
          </p:nvSpPr>
          <p:spPr>
            <a:xfrm>
              <a:off x="0" y="66675"/>
              <a:ext cx="5355898" cy="4319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3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B2B802C-B13F-AE18-5657-E4EA5E2A7C68}"/>
              </a:ext>
            </a:extLst>
          </p:cNvPr>
          <p:cNvSpPr txBox="1"/>
          <p:nvPr/>
        </p:nvSpPr>
        <p:spPr>
          <a:xfrm>
            <a:off x="9139238" y="4729163"/>
            <a:ext cx="9525" cy="790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05D73B-30F4-8EC7-6D53-BD7D4D77D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1281857"/>
            <a:ext cx="13030200" cy="862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49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83732" y="-116768"/>
            <a:ext cx="10942551" cy="10942551"/>
          </a:xfrm>
          <a:custGeom>
            <a:avLst/>
            <a:gdLst/>
            <a:ahLst/>
            <a:cxnLst/>
            <a:rect l="l" t="t" r="r" b="b"/>
            <a:pathLst>
              <a:path w="10942551" h="10942551">
                <a:moveTo>
                  <a:pt x="0" y="0"/>
                </a:moveTo>
                <a:lnTo>
                  <a:pt x="10942551" y="0"/>
                </a:lnTo>
                <a:lnTo>
                  <a:pt x="10942551" y="10942551"/>
                </a:lnTo>
                <a:lnTo>
                  <a:pt x="0" y="10942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224</Words>
  <Application>Microsoft Office PowerPoint</Application>
  <PresentationFormat>Custom</PresentationFormat>
  <Paragraphs>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Times New Roman MT Bold</vt:lpstr>
      <vt:lpstr>Times New Roman</vt:lpstr>
      <vt:lpstr>Cardo</vt:lpstr>
      <vt:lpstr>Calibri</vt:lpstr>
      <vt:lpstr>Times New Roman Bold</vt:lpstr>
      <vt:lpstr>Arial MT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review 1</dc:title>
  <cp:lastModifiedBy>Lakshmi kanthan</cp:lastModifiedBy>
  <cp:revision>10</cp:revision>
  <dcterms:created xsi:type="dcterms:W3CDTF">2006-08-16T00:00:00Z</dcterms:created>
  <dcterms:modified xsi:type="dcterms:W3CDTF">2026-03-26T07:42:53Z</dcterms:modified>
  <dc:identifier>DAGkDskjErw</dc:identifier>
</cp:coreProperties>
</file>